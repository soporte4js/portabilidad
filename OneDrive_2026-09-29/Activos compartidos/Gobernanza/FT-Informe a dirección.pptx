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6" r:id="rId6"/>
    <p:sldId id="265" r:id="rId7"/>
    <p:sldId id="267" r:id="rId8"/>
    <p:sldId id="268" r:id="rId9"/>
    <p:sldId id="270" r:id="rId10"/>
    <p:sldId id="262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35108D-EC51-E5D1-DB61-E3EC8BF10967}" name="Documentación Innevo" initials="DI" userId="Documentación Innev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61668-4BD2-4F17-BC66-BD3368917D90}" v="4" dt="2024-12-06T20:45:44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nevocorp-my.sharepoint.com/personal/luis_innevo_com/Documents/Definici&#243;n%20de%20mediciones%20y%20objetivos%20CM-ISO%20f&#225;cil/Densidad%20de%20defect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 dirty="0"/>
              <a:t>Densidad</a:t>
            </a:r>
            <a:r>
              <a:rPr lang="es-MX" baseline="0" dirty="0"/>
              <a:t> de defectos en aceptación</a:t>
            </a:r>
            <a:endParaRPr lang="es-MX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'Defectos x proyectos 2023'!$H$1</c:f>
              <c:strCache>
                <c:ptCount val="1"/>
                <c:pt idx="0">
                  <c:v>Densidad defectos en UATs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'Defectos x proyectos 2023'!$A$2:$A$4</c:f>
              <c:strCache>
                <c:ptCount val="3"/>
                <c:pt idx="0">
                  <c:v>ProyectoA</c:v>
                </c:pt>
                <c:pt idx="1">
                  <c:v>ProyectoB</c:v>
                </c:pt>
                <c:pt idx="2">
                  <c:v>ProyectoC</c:v>
                </c:pt>
              </c:strCache>
            </c:strRef>
          </c:cat>
          <c:val>
            <c:numRef>
              <c:f>'Defectos x proyectos 2023'!$H$2:$H$4</c:f>
              <c:numCache>
                <c:formatCode>General</c:formatCode>
                <c:ptCount val="3"/>
                <c:pt idx="0">
                  <c:v>9.5166163141993956E-2</c:v>
                </c:pt>
                <c:pt idx="1">
                  <c:v>0.08</c:v>
                </c:pt>
                <c:pt idx="2">
                  <c:v>0.16875000000000001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35-4032-946E-3E857AD3F5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22134559"/>
        <c:axId val="497620495"/>
      </c:barChart>
      <c:lineChart>
        <c:grouping val="standard"/>
        <c:varyColors val="0"/>
        <c:ser>
          <c:idx val="1"/>
          <c:order val="1"/>
          <c:tx>
            <c:strRef>
              <c:f>'Defectos x proyectos 2023'!$I$1</c:f>
              <c:strCache>
                <c:ptCount val="1"/>
                <c:pt idx="0">
                  <c:v>Aceptable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'Defectos x proyectos 2023'!$I$2:$I$4</c:f>
              <c:numCache>
                <c:formatCode>General</c:formatCode>
                <c:ptCount val="3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35-4032-946E-3E857AD3F5ED}"/>
            </c:ext>
          </c:extLst>
        </c:ser>
        <c:ser>
          <c:idx val="2"/>
          <c:order val="2"/>
          <c:tx>
            <c:strRef>
              <c:f>'Defectos x proyectos 2023'!$J$1</c:f>
              <c:strCache>
                <c:ptCount val="1"/>
                <c:pt idx="0">
                  <c:v>Inaceptable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'Defectos x proyectos 2023'!$J$2:$J$4</c:f>
              <c:numCache>
                <c:formatCode>General</c:formatCode>
                <c:ptCount val="3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35-4032-946E-3E857AD3F5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2134559"/>
        <c:axId val="497620495"/>
      </c:lineChart>
      <c:catAx>
        <c:axId val="1022134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497620495"/>
        <c:crosses val="autoZero"/>
        <c:auto val="1"/>
        <c:lblAlgn val="ctr"/>
        <c:lblOffset val="100"/>
        <c:noMultiLvlLbl val="0"/>
      </c:catAx>
      <c:valAx>
        <c:axId val="497620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022134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998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47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599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901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70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049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019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102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490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911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93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DAB19-D868-4620-A06A-DD1486530B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BA771-16A8-4BE6-AB28-974A037EDCF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609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Informe objetivos año</a:t>
            </a:r>
            <a:endParaRPr lang="es-MX" i="1" dirty="0">
              <a:cs typeface="Calibri Ligh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Periodo del informe:</a:t>
            </a:r>
          </a:p>
          <a:p>
            <a:endParaRPr lang="es-MX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Fecha del informe: día </a:t>
            </a:r>
            <a:r>
              <a:rPr lang="es-MX" dirty="0"/>
              <a:t>de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mes </a:t>
            </a:r>
            <a:r>
              <a:rPr lang="es-MX" dirty="0"/>
              <a:t>de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año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8BF35-3A4E-A4CE-3D6F-B9AA69126CBD}"/>
              </a:ext>
            </a:extLst>
          </p:cNvPr>
          <p:cNvSpPr txBox="1"/>
          <p:nvPr/>
        </p:nvSpPr>
        <p:spPr>
          <a:xfrm>
            <a:off x="593651" y="522767"/>
            <a:ext cx="24720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Logo de la Organización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85FCE-B7E9-C793-E1DB-6D04408FA725}"/>
              </a:ext>
            </a:extLst>
          </p:cNvPr>
          <p:cNvSpPr txBox="1"/>
          <p:nvPr/>
        </p:nvSpPr>
        <p:spPr>
          <a:xfrm>
            <a:off x="367932" y="5735637"/>
            <a:ext cx="1088007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 dirty="0">
                <a:solidFill>
                  <a:srgbClr val="C00000"/>
                </a:solidFill>
                <a:cs typeface="Calibri"/>
              </a:rPr>
              <a:t>Nota: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Utilizar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colores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de la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organización</a:t>
            </a:r>
            <a:br>
              <a:rPr lang="en-US" sz="1400" b="1" i="1" dirty="0">
                <a:solidFill>
                  <a:srgbClr val="C00000"/>
                </a:solidFill>
                <a:cs typeface="Calibri"/>
              </a:rPr>
            </a:br>
            <a:r>
              <a:rPr lang="en-US" sz="1400" b="1" i="1" dirty="0">
                <a:solidFill>
                  <a:srgbClr val="C00000"/>
                </a:solidFill>
                <a:cs typeface="Calibri"/>
              </a:rPr>
              <a:t>Nota: El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formato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tiene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ejemplos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,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modificar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la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información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de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acuerdo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a las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necesidades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de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información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.</a:t>
            </a:r>
            <a:br>
              <a:rPr lang="en-US" sz="1400" b="1" i="1" dirty="0">
                <a:solidFill>
                  <a:srgbClr val="C00000"/>
                </a:solidFill>
                <a:cs typeface="Calibri"/>
              </a:rPr>
            </a:br>
            <a:r>
              <a:rPr lang="en-US" sz="1400" b="1" i="1" dirty="0">
                <a:solidFill>
                  <a:srgbClr val="C00000"/>
                </a:solidFill>
                <a:cs typeface="Calibri"/>
              </a:rPr>
              <a:t>Nota: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Eliminar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todas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las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notas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en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la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plantilla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 </a:t>
            </a:r>
          </a:p>
          <a:p>
            <a:r>
              <a:rPr lang="en-US" sz="1400" b="1" i="1" dirty="0">
                <a:solidFill>
                  <a:srgbClr val="C00000"/>
                </a:solidFill>
                <a:cs typeface="Calibri"/>
              </a:rPr>
              <a:t>Nota: La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información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presentada</a:t>
            </a:r>
            <a:r>
              <a:rPr lang="en-US" sz="1400" b="1" i="1" dirty="0">
                <a:solidFill>
                  <a:srgbClr val="C00000"/>
                </a:solidFill>
                <a:cs typeface="Calibri"/>
              </a:rPr>
              <a:t> son </a:t>
            </a:r>
            <a:r>
              <a:rPr lang="en-US" sz="1400" b="1" i="1" dirty="0" err="1">
                <a:solidFill>
                  <a:srgbClr val="C00000"/>
                </a:solidFill>
                <a:cs typeface="Calibri"/>
              </a:rPr>
              <a:t>ejemplos</a:t>
            </a:r>
            <a:endParaRPr lang="en-US" sz="1400" b="1" i="1" dirty="0">
              <a:solidFill>
                <a:srgbClr val="C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163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Informe objetivos año 2024</a:t>
            </a:r>
            <a:endParaRPr lang="es-MX" i="1" dirty="0">
              <a:cs typeface="Calibri Ligh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MX" dirty="0"/>
              <a:t>Periodo del informe:</a:t>
            </a:r>
          </a:p>
          <a:p>
            <a:r>
              <a:rPr lang="es-MX" dirty="0"/>
              <a:t>Abril a junio 2024</a:t>
            </a:r>
          </a:p>
          <a:p>
            <a:endParaRPr lang="es-MX" dirty="0"/>
          </a:p>
          <a:p>
            <a:r>
              <a:rPr lang="es-MX" dirty="0"/>
              <a:t>10 de julio de 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8BF35-3A4E-A4CE-3D6F-B9AA69126CBD}"/>
              </a:ext>
            </a:extLst>
          </p:cNvPr>
          <p:cNvSpPr txBox="1"/>
          <p:nvPr/>
        </p:nvSpPr>
        <p:spPr>
          <a:xfrm>
            <a:off x="593651" y="522767"/>
            <a:ext cx="24720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Logo de la Organización</a:t>
            </a:r>
          </a:p>
        </p:txBody>
      </p:sp>
    </p:spTree>
    <p:extLst>
      <p:ext uri="{BB962C8B-B14F-4D97-AF65-F5344CB8AC3E}">
        <p14:creationId xmlns:p14="http://schemas.microsoft.com/office/powerpoint/2010/main" val="347153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66332-99EF-995B-CFF9-5C84FC99C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 dirty="0"/>
              <a:t>Objetivo de medición: </a:t>
            </a:r>
            <a:r>
              <a:rPr lang="es-ES" sz="2800" dirty="0">
                <a:solidFill>
                  <a:schemeClr val="bg2">
                    <a:lumMod val="50000"/>
                  </a:schemeClr>
                </a:solidFill>
              </a:rPr>
              <a:t>registrar nombre del objetivo </a:t>
            </a:r>
            <a:br>
              <a:rPr lang="es-ES" sz="2800" dirty="0"/>
            </a:br>
            <a:r>
              <a:rPr lang="es-ES" sz="2800" dirty="0"/>
              <a:t>Nombre de la métrica:</a:t>
            </a:r>
            <a:r>
              <a:rPr lang="es-ES" sz="2800" dirty="0">
                <a:solidFill>
                  <a:schemeClr val="bg2">
                    <a:lumMod val="50000"/>
                  </a:schemeClr>
                </a:solidFill>
              </a:rPr>
              <a:t> registrar nombre de la métrica de acuerdo con el plan de mediciones</a:t>
            </a:r>
            <a:endParaRPr lang="es-MX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429753-D9AC-28BC-C38A-3D1EDCA2A1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Gráfica con los resultados de la métrica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5CC057-305E-1699-E388-3C6B254CCF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Desviaciones presentadas en el informe anterior: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si no hay desviaciones del informe anterior registrar “no hay”.</a:t>
            </a:r>
          </a:p>
          <a:p>
            <a:r>
              <a:rPr lang="es-MX" dirty="0"/>
              <a:t>Desviaciones: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si no hay desviaciones registrar “no hay”.</a:t>
            </a:r>
          </a:p>
          <a:p>
            <a:r>
              <a:rPr lang="es-MX" dirty="0"/>
              <a:t>Causas: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registrar las causas de las desviaciones si no se han identificado aún registrar “por definir”.</a:t>
            </a:r>
          </a:p>
          <a:p>
            <a:r>
              <a:rPr lang="es-MX" dirty="0"/>
              <a:t>Acciones correctivas: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registrar las acciones que se van a realizar.</a:t>
            </a:r>
          </a:p>
          <a:p>
            <a:endParaRPr lang="es-MX" i="1" dirty="0"/>
          </a:p>
          <a:p>
            <a:endParaRPr lang="es-MX" i="1" dirty="0"/>
          </a:p>
          <a:p>
            <a:endParaRPr lang="es-MX" i="1" dirty="0"/>
          </a:p>
          <a:p>
            <a:endParaRPr lang="es-MX" i="1" dirty="0"/>
          </a:p>
        </p:txBody>
      </p:sp>
    </p:spTree>
    <p:extLst>
      <p:ext uri="{BB962C8B-B14F-4D97-AF65-F5344CB8AC3E}">
        <p14:creationId xmlns:p14="http://schemas.microsoft.com/office/powerpoint/2010/main" val="18432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132-1D78-D2EF-E969-4B0A431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800" dirty="0"/>
              <a:t>Objetivo de medición: </a:t>
            </a:r>
            <a:r>
              <a:rPr lang="es-ES" sz="2800" dirty="0"/>
              <a:t>Disminuir la densidad de defectos</a:t>
            </a:r>
            <a:br>
              <a:rPr lang="es-ES" sz="2800" dirty="0"/>
            </a:br>
            <a:r>
              <a:rPr lang="es-ES" sz="2800" dirty="0"/>
              <a:t>Métrica: Densidad de defectos en aceptación</a:t>
            </a:r>
            <a:endParaRPr lang="es-MX" sz="28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9FEE270-0197-2B7A-5E77-A201CD6EF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MX" dirty="0"/>
              <a:t>Desviaciones presentadas en el informe anterior: no hay.</a:t>
            </a:r>
          </a:p>
          <a:p>
            <a:r>
              <a:rPr lang="es-MX" dirty="0"/>
              <a:t>Desviaciones: aunque el Proyecto C se encuentra en el umbral aceptable, se definirán acciones.</a:t>
            </a:r>
          </a:p>
          <a:p>
            <a:r>
              <a:rPr lang="es-MX" dirty="0"/>
              <a:t>Causas: por definir.</a:t>
            </a:r>
          </a:p>
          <a:p>
            <a:r>
              <a:rPr lang="es-MX" dirty="0"/>
              <a:t>Acciones correctivas: por definir con base en las causas.</a:t>
            </a:r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63AA0D80-4D60-452C-AA71-25E821BB815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3118189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44885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66332-99EF-995B-CFF9-5C84FC99C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800" dirty="0"/>
              <a:t>Objetivo de medición: </a:t>
            </a:r>
            <a:r>
              <a:rPr lang="es-ES" sz="2800" dirty="0"/>
              <a:t>Disminuir la densidad en pruebas</a:t>
            </a:r>
            <a:br>
              <a:rPr lang="es-ES" sz="2800" dirty="0"/>
            </a:br>
            <a:r>
              <a:rPr lang="es-ES" sz="2800" dirty="0"/>
              <a:t>Métrica: Densidad de defectos en aceptación</a:t>
            </a:r>
            <a:endParaRPr lang="es-MX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429753-D9AC-28BC-C38A-3D1EDCA2A1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Gráfica con los resultados de la métrica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5CC057-305E-1699-E388-3C6B254CCF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Desviaciones presentadas en el informe anterior: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si no hay desviaciones del informe anterior registrar “no hay”.</a:t>
            </a:r>
          </a:p>
          <a:p>
            <a:r>
              <a:rPr lang="es-MX" dirty="0"/>
              <a:t>Desviaciones: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si no hay desviaciones registrar “no hay”.</a:t>
            </a:r>
          </a:p>
          <a:p>
            <a:r>
              <a:rPr lang="es-MX" dirty="0"/>
              <a:t>Causas: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registrar las causas de las desviaciones si no se han identificado aún registrar “por definir”.</a:t>
            </a:r>
          </a:p>
          <a:p>
            <a:r>
              <a:rPr lang="es-MX" dirty="0"/>
              <a:t>Acciones correctivas: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registrar las acciones que se van a realizar.</a:t>
            </a:r>
          </a:p>
          <a:p>
            <a:endParaRPr lang="es-MX" i="1" dirty="0"/>
          </a:p>
          <a:p>
            <a:endParaRPr lang="es-MX" i="1" dirty="0"/>
          </a:p>
          <a:p>
            <a:endParaRPr lang="es-MX" i="1" dirty="0"/>
          </a:p>
          <a:p>
            <a:endParaRPr lang="es-MX" i="1" dirty="0"/>
          </a:p>
        </p:txBody>
      </p:sp>
    </p:spTree>
    <p:extLst>
      <p:ext uri="{BB962C8B-B14F-4D97-AF65-F5344CB8AC3E}">
        <p14:creationId xmlns:p14="http://schemas.microsoft.com/office/powerpoint/2010/main" val="317798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66332-99EF-995B-CFF9-5C84FC99C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800" dirty="0"/>
              <a:t>Objetivo de medición: </a:t>
            </a:r>
            <a:r>
              <a:rPr lang="es-ES" sz="2800" dirty="0"/>
              <a:t>Aumentar la capacidad de corrección de defectos antes de pasar a otras fases del desarrollo</a:t>
            </a:r>
            <a:br>
              <a:rPr lang="es-ES" sz="2800" dirty="0"/>
            </a:br>
            <a:r>
              <a:rPr lang="es-ES" sz="2800" dirty="0"/>
              <a:t>Métrica: Defectos en RXP </a:t>
            </a:r>
            <a:endParaRPr lang="es-MX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429753-D9AC-28BC-C38A-3D1EDCA2A1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Gráfica con los resultados de la métrica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5CC057-305E-1699-E388-3C6B254CCF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Desviaciones presentadas en el informe anterior: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si no hay desviaciones del informe anterior registrar “no hay”.</a:t>
            </a:r>
          </a:p>
          <a:p>
            <a:r>
              <a:rPr lang="es-MX" dirty="0"/>
              <a:t>Desviaciones: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si no hay desviaciones registrar “no hay”.</a:t>
            </a:r>
          </a:p>
          <a:p>
            <a:r>
              <a:rPr lang="es-MX" dirty="0"/>
              <a:t>Causas: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registrar las causas de las desviaciones si no se han identificado aún registrar “por definir”.</a:t>
            </a:r>
          </a:p>
          <a:p>
            <a:r>
              <a:rPr lang="es-MX" dirty="0"/>
              <a:t>Acciones correctivas: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registrar las acciones que se van a realizar.</a:t>
            </a:r>
          </a:p>
          <a:p>
            <a:endParaRPr lang="es-MX" i="1" dirty="0"/>
          </a:p>
          <a:p>
            <a:endParaRPr lang="es-MX" i="1" dirty="0"/>
          </a:p>
          <a:p>
            <a:endParaRPr lang="es-MX" i="1" dirty="0"/>
          </a:p>
          <a:p>
            <a:endParaRPr lang="es-MX" i="1" dirty="0"/>
          </a:p>
        </p:txBody>
      </p:sp>
    </p:spTree>
    <p:extLst>
      <p:ext uri="{BB962C8B-B14F-4D97-AF65-F5344CB8AC3E}">
        <p14:creationId xmlns:p14="http://schemas.microsoft.com/office/powerpoint/2010/main" val="4018654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74853"/>
            <a:ext cx="10515600" cy="1325563"/>
          </a:xfrm>
        </p:spPr>
        <p:txBody>
          <a:bodyPr/>
          <a:lstStyle/>
          <a:p>
            <a:r>
              <a:rPr lang="es-MX" b="1">
                <a:solidFill>
                  <a:srgbClr val="C00000"/>
                </a:solidFill>
              </a:rPr>
              <a:t>Nota: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Los informes deben ser rápidos y directos </a:t>
            </a:r>
          </a:p>
          <a:p>
            <a:r>
              <a:rPr lang="es-MX"/>
              <a:t>Las reuniones de avances no agregan valor </a:t>
            </a:r>
          </a:p>
          <a:p>
            <a:r>
              <a:rPr lang="es-MX"/>
              <a:t>Reuniones de resolución si agregan valor</a:t>
            </a:r>
          </a:p>
          <a:p>
            <a:endParaRPr lang="es-MX"/>
          </a:p>
          <a:p>
            <a:endParaRPr lang="es-MX"/>
          </a:p>
          <a:p>
            <a:endParaRPr lang="es-MX"/>
          </a:p>
          <a:p>
            <a:endParaRPr lang="es-MX"/>
          </a:p>
          <a:p>
            <a:pPr marL="0" indent="0">
              <a:buNone/>
            </a:pPr>
            <a:r>
              <a:rPr lang="es-MX" sz="1200" b="1" i="1"/>
              <a:t>Nota: Eliminar esta diapositiva.</a:t>
            </a:r>
          </a:p>
        </p:txBody>
      </p:sp>
    </p:spTree>
    <p:extLst>
      <p:ext uri="{BB962C8B-B14F-4D97-AF65-F5344CB8AC3E}">
        <p14:creationId xmlns:p14="http://schemas.microsoft.com/office/powerpoint/2010/main" val="15227347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e317a7924b2544239d4f057d999310ac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7d42326814b3c435e052ee9b8530a2a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  <Estado xmlns="f1020bcf-9500-4749-8c84-b23cf138577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E9DD22-FFAA-40A3-820C-E5C4AA367A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20bcf-9500-4749-8c84-b23cf1385772"/>
    <ds:schemaRef ds:uri="7a0a35da-276e-4c8e-b365-e7c47df808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0F59D7-BA64-45C9-AC2D-B7635254298D}">
  <ds:schemaRefs>
    <ds:schemaRef ds:uri="7a0a35da-276e-4c8e-b365-e7c47df80865"/>
    <ds:schemaRef ds:uri="http://schemas.openxmlformats.org/package/2006/metadata/core-properties"/>
    <ds:schemaRef ds:uri="f1020bcf-9500-4749-8c84-b23cf1385772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17038EA-02CC-43BD-A7ED-3849389374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449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Informe objetivos año</vt:lpstr>
      <vt:lpstr>Informe objetivos año 2024</vt:lpstr>
      <vt:lpstr>Objetivo de medición: registrar nombre del objetivo  Nombre de la métrica: registrar nombre de la métrica de acuerdo con el plan de mediciones</vt:lpstr>
      <vt:lpstr>Objetivo de medición: Disminuir la densidad de defectos Métrica: Densidad de defectos en aceptación</vt:lpstr>
      <vt:lpstr>Objetivo de medición: Disminuir la densidad en pruebas Métrica: Densidad de defectos en aceptación</vt:lpstr>
      <vt:lpstr>Objetivo de medición: Aumentar la capacidad de corrección de defectos antes de pasar a otras fases del desarrollo Métrica: Defectos en RXP </vt:lpstr>
      <vt:lpstr>Nota: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</dc:title>
  <dc:creator>Documentación Innevo</dc:creator>
  <cp:lastModifiedBy>Documentación Innevo</cp:lastModifiedBy>
  <cp:revision>2</cp:revision>
  <dcterms:created xsi:type="dcterms:W3CDTF">2023-05-15T19:23:45Z</dcterms:created>
  <dcterms:modified xsi:type="dcterms:W3CDTF">2025-10-22T16:41:12Z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